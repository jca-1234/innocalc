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session shows how to write a calculation in the Calculation Pad, from opening it to saving it and finding it again. No coding is needed. Bring a laptop with InnoCalc running if you want to follow along; the practice exercise is on the second-last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pad as squared paper that can do arithmetic. You write the working the way you would by hand, and the pad writes it out neatly with the numbers put in and the answer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proper module exists, use it: it has been tested and validated for that job. The pad is for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 the star on the card to keep the Calculation Pad in Favourites.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your time is spent on the right, typing into the sheet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fill the sheet header and file the calculation in the right folder. The Checked by box fills itself when a verifier signs the package off.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blocks with the + buttons in the middle panel. Use the arrows to move them up and down and x to delete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line becomes a printed line: the formula, the numbers put in, then the answer in bold. Later lines can use anything worked out above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notation matches handcalcs, so it is the same as the Jupyter tools if you ever outgrow the pad.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Units are real. 5 kN/m times 6 m squared divided by 8 really is 22.5 kNm. If the units cannot balance, the line says so instead of printing a wrong number. Set Units to Plain numbers if you only want labels.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you try a different span or load quickly without hunting through the 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utilisation line the pad is filed without one, which is fine for narrative-only sheets.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SymPy does the algebra. The substitution line underneath still shows units.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a sketch or a marked-up drawing travels inside the calculation set, in the right place.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try to leave with unsaved changes InnoCalc asks whether to save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symbol opens the printed sheet; the folder symbol opens its folder.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notebook when a pad needs loops, tables or charts. If the same notebook is used again and again, it should become a proper module: see README-USER-CALCDEVELOPMENT.md.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line is checked before it is worked out. Anything not allowed gets a message on the sheet instead.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pad makes arithmetic reliable. It does not make the engineering right: the method, loads and assumptions are still yours to check.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M_max goes from 22.5 to 40 kNm and utilisation from 0.75 to 1.33, shown in red. Put L back to 6 m, save, then find the calculation in the Calculation Index.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InnoCalc adds the page, module and version to your report automatically.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828800"/>
            <a:ext cx="91440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123B63"/>
                </a:solidFill>
                <a:latin typeface="Segoe UI"/>
              </a:rPr>
              <a:t>IC</a:t>
            </a:r>
          </a:p>
        </p:txBody>
      </p:sp>
      <p:sp>
        <p:nvSpPr>
          <p:cNvPr id="4" name="TextBox 3"/>
          <p:cNvSpPr txBox="1"/>
          <p:nvPr/>
        </p:nvSpPr>
        <p:spPr>
          <a:xfrm>
            <a:off x="2011680" y="1691640"/>
            <a:ext cx="9144000" cy="1188720"/>
          </a:xfrm>
          <a:prstGeom prst="rect">
            <a:avLst/>
          </a:prstGeom>
          <a:noFill/>
        </p:spPr>
        <p:txBody>
          <a:bodyPr wrap="none">
            <a:spAutoFit/>
          </a:bodyPr>
          <a:lstStyle/>
          <a:p>
            <a:pPr algn="l"/>
            <a:r>
              <a:rPr sz="4800" b="1">
                <a:solidFill>
                  <a:srgbClr val="FFFFFF"/>
                </a:solidFill>
                <a:latin typeface="Segoe UI"/>
              </a:rPr>
              <a:t>The Calculation Pad</a:t>
            </a:r>
          </a:p>
        </p:txBody>
      </p:sp>
      <p:sp>
        <p:nvSpPr>
          <p:cNvPr id="5" name="TextBox 4"/>
          <p:cNvSpPr txBox="1"/>
          <p:nvPr/>
        </p:nvSpPr>
        <p:spPr>
          <a:xfrm>
            <a:off x="2011680" y="2788920"/>
            <a:ext cx="9144000" cy="731520"/>
          </a:xfrm>
          <a:prstGeom prst="rect">
            <a:avLst/>
          </a:prstGeom>
          <a:noFill/>
        </p:spPr>
        <p:txBody>
          <a:bodyPr wrap="none">
            <a:spAutoFit/>
          </a:bodyPr>
          <a:lstStyle/>
          <a:p>
            <a:pPr algn="l"/>
            <a:r>
              <a:rPr sz="2600" b="0">
                <a:solidFill>
                  <a:srgbClr val="E6EEF7"/>
                </a:solidFill>
                <a:latin typeface="Segoe UI"/>
              </a:rPr>
              <a:t>Doing sums in InnoCalc - the easy way</a:t>
            </a:r>
          </a:p>
        </p:txBody>
      </p:sp>
      <p:sp>
        <p:nvSpPr>
          <p:cNvPr id="6" name="Rectangle 5"/>
          <p:cNvSpPr/>
          <p:nvPr/>
        </p:nvSpPr>
        <p:spPr>
          <a:xfrm>
            <a:off x="2057400" y="3840480"/>
            <a:ext cx="365760" cy="109728"/>
          </a:xfrm>
          <a:prstGeom prst="rect">
            <a:avLst/>
          </a:prstGeom>
          <a:solidFill>
            <a:srgbClr val="63B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0" y="3840480"/>
            <a:ext cx="365760" cy="109728"/>
          </a:xfrm>
          <a:prstGeom prst="rect">
            <a:avLst/>
          </a:prstGeom>
          <a:solidFill>
            <a:srgbClr val="FFE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63240" y="3840480"/>
            <a:ext cx="365760" cy="109728"/>
          </a:xfrm>
          <a:prstGeom prst="rect">
            <a:avLst/>
          </a:prstGeom>
          <a:solidFill>
            <a:srgbClr val="F86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4206240"/>
            <a:ext cx="9144000" cy="548640"/>
          </a:xfrm>
          <a:prstGeom prst="rect">
            <a:avLst/>
          </a:prstGeom>
          <a:noFill/>
        </p:spPr>
        <p:txBody>
          <a:bodyPr wrap="none">
            <a:spAutoFit/>
          </a:bodyPr>
          <a:lstStyle/>
          <a:p>
            <a:pPr algn="l"/>
            <a:r>
              <a:rPr sz="1600" b="0">
                <a:solidFill>
                  <a:srgbClr val="E6EEF7"/>
                </a:solidFill>
                <a:latin typeface="Segoe UI"/>
              </a:rPr>
              <a:t>InnoCalc v0.0.1  |  Innovis 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What is the Calculation Pad?</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2</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It is clever grid paper.</a:t>
            </a:r>
          </a:p>
          <a:p>
            <a:pPr>
              <a:spcAft>
                <a:spcPts val="1000"/>
              </a:spcAft>
            </a:pPr>
            <a:r>
              <a:rPr sz="2000">
                <a:solidFill>
                  <a:srgbClr val="1C2431"/>
                </a:solidFill>
                <a:latin typeface="Segoe UI"/>
              </a:rPr>
              <a:t>•  You write a sum. It does the maths.</a:t>
            </a:r>
          </a:p>
          <a:p>
            <a:pPr>
              <a:spcAft>
                <a:spcPts val="1000"/>
              </a:spcAft>
            </a:pPr>
            <a:r>
              <a:rPr sz="2000">
                <a:solidFill>
                  <a:srgbClr val="1C2431"/>
                </a:solidFill>
                <a:latin typeface="Segoe UI"/>
              </a:rPr>
              <a:t>•  It prints on the same Innovis sheet as every other calculation.</a:t>
            </a:r>
          </a:p>
          <a:p>
            <a:pPr>
              <a:spcAft>
                <a:spcPts val="1000"/>
              </a:spcAft>
            </a:pPr>
            <a:r>
              <a:rPr sz="2000">
                <a:solidFill>
                  <a:srgbClr val="1C2431"/>
                </a:solidFill>
                <a:latin typeface="Segoe UI"/>
              </a:rPr>
              <a:t>•  It remembers every version you save.</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calculation-pad.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When do I use it?</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3</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Load takedowns</a:t>
            </a:r>
          </a:p>
          <a:p>
            <a:pPr>
              <a:spcAft>
                <a:spcPts val="1000"/>
              </a:spcAft>
            </a:pPr>
            <a:r>
              <a:rPr sz="2000">
                <a:solidFill>
                  <a:srgbClr val="1C2431"/>
                </a:solidFill>
                <a:latin typeface="Segoe UI"/>
              </a:rPr>
              <a:t>•  Design philosophy and assumptions</a:t>
            </a:r>
          </a:p>
          <a:p>
            <a:pPr>
              <a:spcAft>
                <a:spcPts val="1000"/>
              </a:spcAft>
            </a:pPr>
            <a:r>
              <a:rPr sz="2000">
                <a:solidFill>
                  <a:srgbClr val="1C2431"/>
                </a:solidFill>
                <a:latin typeface="Segoe UI"/>
              </a:rPr>
              <a:t>•  Quick checks and assessments</a:t>
            </a:r>
          </a:p>
          <a:p>
            <a:pPr>
              <a:spcAft>
                <a:spcPts val="1000"/>
              </a:spcAft>
            </a:pPr>
            <a:r>
              <a:rPr sz="2000">
                <a:solidFill>
                  <a:srgbClr val="1C2431"/>
                </a:solidFill>
                <a:latin typeface="Segoe UI"/>
              </a:rPr>
              <a:t>•  Sketches and marked-up drawings</a:t>
            </a:r>
          </a:p>
          <a:p>
            <a:pPr>
              <a:spcAft>
                <a:spcPts val="1000"/>
              </a:spcAft>
            </a:pPr>
            <a:r>
              <a:rPr sz="2000">
                <a:solidFill>
                  <a:srgbClr val="1C2431"/>
                </a:solidFill>
                <a:latin typeface="Segoe UI"/>
              </a:rPr>
              <a:t>•  Not when there is already a module for it (Steel Member, Concrete Column)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Open the pad</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4</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Open your project (Projects button).</a:t>
            </a:r>
          </a:p>
          <a:p>
            <a:pPr>
              <a:spcAft>
                <a:spcPts val="1000"/>
              </a:spcAft>
            </a:pPr>
            <a:r>
              <a:rPr sz="2000">
                <a:solidFill>
                  <a:srgbClr val="1C2431"/>
                </a:solidFill>
                <a:latin typeface="Segoe UI"/>
              </a:rPr>
              <a:t>•  Press New calculation.</a:t>
            </a:r>
          </a:p>
          <a:p>
            <a:pPr>
              <a:spcAft>
                <a:spcPts val="1000"/>
              </a:spcAft>
            </a:pPr>
            <a:r>
              <a:rPr sz="2000">
                <a:solidFill>
                  <a:srgbClr val="1C2431"/>
                </a:solidFill>
                <a:latin typeface="Segoe UI"/>
              </a:rPr>
              <a:t>•  Choose General on the left.</a:t>
            </a:r>
          </a:p>
          <a:p>
            <a:pPr>
              <a:spcAft>
                <a:spcPts val="1000"/>
              </a:spcAft>
            </a:pPr>
            <a:r>
              <a:rPr sz="2000">
                <a:solidFill>
                  <a:srgbClr val="1C2431"/>
                </a:solidFill>
                <a:latin typeface="Segoe UI"/>
              </a:rPr>
              <a:t>•  Click Calculation Pad.</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choose-calculation-pad.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The three parts of the screen</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5</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Left: every calculation in the project.</a:t>
            </a:r>
          </a:p>
          <a:p>
            <a:pPr>
              <a:spcAft>
                <a:spcPts val="1000"/>
              </a:spcAft>
            </a:pPr>
            <a:r>
              <a:rPr sz="2000">
                <a:solidFill>
                  <a:srgbClr val="1C2431"/>
                </a:solidFill>
                <a:latin typeface="Segoe UI"/>
              </a:rPr>
              <a:t>•  Middle: the boxes - who, what, and the list of cells.</a:t>
            </a:r>
          </a:p>
          <a:p>
            <a:pPr>
              <a:spcAft>
                <a:spcPts val="1000"/>
              </a:spcAft>
            </a:pPr>
            <a:r>
              <a:rPr sz="2000">
                <a:solidFill>
                  <a:srgbClr val="1C2431"/>
                </a:solidFill>
                <a:latin typeface="Segoe UI"/>
              </a:rPr>
              <a:t>•  Right: the printed sheet. It changes as you type.</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calculation-pad.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Say what it is</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6</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Calculation type and number - e.g. Lintel 0003</a:t>
            </a:r>
          </a:p>
          <a:p>
            <a:pPr>
              <a:spcAft>
                <a:spcPts val="1000"/>
              </a:spcAft>
            </a:pPr>
            <a:r>
              <a:rPr sz="2000">
                <a:solidFill>
                  <a:srgbClr val="1C2431"/>
                </a:solidFill>
                <a:latin typeface="Segoe UI"/>
              </a:rPr>
              <a:t>•  Package - which group of calculations it belongs to</a:t>
            </a:r>
          </a:p>
          <a:p>
            <a:pPr>
              <a:spcAft>
                <a:spcPts val="1000"/>
              </a:spcAft>
            </a:pPr>
            <a:r>
              <a:rPr sz="2000">
                <a:solidFill>
                  <a:srgbClr val="1C2431"/>
                </a:solidFill>
                <a:latin typeface="Segoe UI"/>
              </a:rPr>
              <a:t>•  Level - e.g. L02</a:t>
            </a:r>
          </a:p>
          <a:p>
            <a:pPr>
              <a:spcAft>
                <a:spcPts val="1000"/>
              </a:spcAft>
            </a:pPr>
            <a:r>
              <a:rPr sz="2000">
                <a:solidFill>
                  <a:srgbClr val="1C2431"/>
                </a:solidFill>
                <a:latin typeface="Segoe UI"/>
              </a:rPr>
              <a:t>•  Subject - one line that describes it</a:t>
            </a:r>
          </a:p>
          <a:p>
            <a:pPr>
              <a:spcAft>
                <a:spcPts val="1000"/>
              </a:spcAft>
            </a:pPr>
            <a:r>
              <a:rPr sz="2000">
                <a:solidFill>
                  <a:srgbClr val="1C2431"/>
                </a:solidFill>
                <a:latin typeface="Segoe UI"/>
              </a:rPr>
              <a:t>•  Description - words people will search for</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calculation-pad.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Cells are like building blocks</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7</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Section heading</a:t>
            </a:r>
          </a:p>
          <a:p>
            <a:pPr>
              <a:spcAft>
                <a:spcPts val="1000"/>
              </a:spcAft>
            </a:pPr>
            <a:r>
              <a:rPr sz="2000">
                <a:solidFill>
                  <a:srgbClr val="1C2431"/>
                </a:solidFill>
                <a:latin typeface="Segoe UI"/>
              </a:rPr>
              <a:t>•  Narrative / assumptions (a line starting with - is a bullet)</a:t>
            </a:r>
          </a:p>
          <a:p>
            <a:pPr>
              <a:spcAft>
                <a:spcPts val="1000"/>
              </a:spcAft>
            </a:pPr>
            <a:r>
              <a:rPr sz="2000">
                <a:solidFill>
                  <a:srgbClr val="1C2431"/>
                </a:solidFill>
                <a:latin typeface="Segoe UI"/>
              </a:rPr>
              <a:t>•  Calculation</a:t>
            </a:r>
          </a:p>
          <a:p>
            <a:pPr>
              <a:spcAft>
                <a:spcPts val="1000"/>
              </a:spcAft>
            </a:pPr>
            <a:r>
              <a:rPr sz="2000">
                <a:solidFill>
                  <a:srgbClr val="1C2431"/>
                </a:solidFill>
                <a:latin typeface="Segoe UI"/>
              </a:rPr>
              <a:t>•  Figure or sketch</a:t>
            </a:r>
          </a:p>
          <a:p>
            <a:pPr>
              <a:spcAft>
                <a:spcPts val="1000"/>
              </a:spcAft>
            </a:pPr>
            <a:r>
              <a:rPr sz="2000">
                <a:solidFill>
                  <a:srgbClr val="1C2431"/>
                </a:solidFill>
                <a:latin typeface="Segoe UI"/>
              </a:rPr>
              <a:t>•  PDF drawing or Bluebeam markup</a:t>
            </a:r>
          </a:p>
          <a:p>
            <a:pPr>
              <a:spcAft>
                <a:spcPts val="1000"/>
              </a:spcAft>
            </a:pPr>
            <a:r>
              <a:rPr sz="2000">
                <a:solidFill>
                  <a:srgbClr val="1C2431"/>
                </a:solidFill>
                <a:latin typeface="Segoe UI"/>
              </a:rPr>
              <a:t>•  Blank A4 or A3 sheet for hand additions</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3-add-cells.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Write a sum - in the sheet</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8</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Click the grey box on the sheet.</a:t>
            </a:r>
          </a:p>
          <a:p>
            <a:pPr>
              <a:spcAft>
                <a:spcPts val="1000"/>
              </a:spcAft>
            </a:pPr>
            <a:r>
              <a:rPr sz="2000">
                <a:solidFill>
                  <a:srgbClr val="1C2431"/>
                </a:solidFill>
                <a:latin typeface="Segoe UI"/>
              </a:rPr>
              <a:t>•  Type one sum per line:</a:t>
            </a:r>
          </a:p>
          <a:p>
            <a:pPr lvl="1">
              <a:spcAft>
                <a:spcPts val="400"/>
              </a:spcAft>
            </a:pPr>
            <a:r>
              <a:rPr sz="1700">
                <a:solidFill>
                  <a:srgbClr val="123B63"/>
                </a:solidFill>
                <a:latin typeface="Consolas"/>
              </a:rPr>
              <a:t>w = 5.0 kN/m</a:t>
            </a:r>
          </a:p>
          <a:p>
            <a:pPr lvl="1">
              <a:spcAft>
                <a:spcPts val="400"/>
              </a:spcAft>
            </a:pPr>
            <a:r>
              <a:rPr sz="1700">
                <a:solidFill>
                  <a:srgbClr val="123B63"/>
                </a:solidFill>
                <a:latin typeface="Consolas"/>
              </a:rPr>
              <a:t>L = 6.0 m</a:t>
            </a:r>
          </a:p>
          <a:p>
            <a:pPr lvl="1">
              <a:spcAft>
                <a:spcPts val="400"/>
              </a:spcAft>
            </a:pPr>
            <a:r>
              <a:rPr sz="1700">
                <a:solidFill>
                  <a:srgbClr val="123B63"/>
                </a:solidFill>
                <a:latin typeface="Consolas"/>
              </a:rPr>
              <a:t>M_max = w * L^2 / 8   # kNm</a:t>
            </a:r>
          </a:p>
          <a:p>
            <a:pPr>
              <a:spcAft>
                <a:spcPts val="1000"/>
              </a:spcAft>
            </a:pPr>
            <a:r>
              <a:rPr sz="2000">
                <a:solidFill>
                  <a:srgbClr val="1C2431"/>
                </a:solidFill>
                <a:latin typeface="Segoe UI"/>
              </a:rPr>
              <a:t>•  The answer appears underneath straight away.</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7-type-in-the-sheet.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How to write it</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9</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A few little rules:</a:t>
            </a:r>
          </a:p>
          <a:p>
            <a:pPr lvl="1">
              <a:spcAft>
                <a:spcPts val="400"/>
              </a:spcAft>
            </a:pPr>
            <a:r>
              <a:rPr sz="1700">
                <a:solidFill>
                  <a:srgbClr val="123B63"/>
                </a:solidFill>
                <a:latin typeface="Consolas"/>
              </a:rPr>
              <a:t>L^2        power (or L**2)</a:t>
            </a:r>
          </a:p>
          <a:p>
            <a:pPr lvl="1">
              <a:spcAft>
                <a:spcPts val="400"/>
              </a:spcAft>
            </a:pPr>
            <a:r>
              <a:rPr sz="1700">
                <a:solidFill>
                  <a:srgbClr val="123B63"/>
                </a:solidFill>
                <a:latin typeface="Consolas"/>
              </a:rPr>
              <a:t>M_x_max    subscript: M with x,max below</a:t>
            </a:r>
          </a:p>
          <a:p>
            <a:pPr lvl="1">
              <a:spcAft>
                <a:spcPts val="400"/>
              </a:spcAft>
            </a:pPr>
            <a:r>
              <a:rPr sz="1700">
                <a:solidFill>
                  <a:srgbClr val="123B63"/>
                </a:solidFill>
                <a:latin typeface="Consolas"/>
              </a:rPr>
              <a:t>phi, alpha Greek letters by name</a:t>
            </a:r>
          </a:p>
          <a:p>
            <a:pPr lvl="1">
              <a:spcAft>
                <a:spcPts val="400"/>
              </a:spcAft>
            </a:pPr>
            <a:r>
              <a:rPr sz="1700">
                <a:solidFill>
                  <a:srgbClr val="123B63"/>
                </a:solidFill>
                <a:latin typeface="Consolas"/>
              </a:rPr>
              <a:t># a note   a whole comment line prints as a note</a:t>
            </a:r>
          </a:p>
          <a:p>
            <a:pPr lvl="1">
              <a:spcAft>
                <a:spcPts val="400"/>
              </a:spcAft>
            </a:pPr>
            <a:r>
              <a:rPr sz="1700">
                <a:solidFill>
                  <a:srgbClr val="123B63"/>
                </a:solidFill>
                <a:latin typeface="Consolas"/>
              </a:rPr>
              <a:t>sqrt min max sin cos log pi ...</a:t>
            </a:r>
          </a:p>
          <a:p>
            <a:pPr>
              <a:spcAft>
                <a:spcPts val="1000"/>
              </a:spcAft>
            </a:pPr>
            <a:r>
              <a:rPr sz="2000">
                <a:solidFill>
                  <a:srgbClr val="1C2431"/>
                </a:solidFill>
                <a:latin typeface="Segoe UI"/>
              </a:rPr>
              <a:t>•  Make up clear names - they are printed.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Numbers wear their units</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10</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Write the unit straight after the number:</a:t>
            </a:r>
          </a:p>
          <a:p>
            <a:pPr lvl="1">
              <a:spcAft>
                <a:spcPts val="400"/>
              </a:spcAft>
            </a:pPr>
            <a:r>
              <a:rPr sz="1700">
                <a:solidFill>
                  <a:srgbClr val="123B63"/>
                </a:solidFill>
                <a:latin typeface="Consolas"/>
              </a:rPr>
              <a:t>b = 250 mm</a:t>
            </a:r>
          </a:p>
          <a:p>
            <a:pPr lvl="1">
              <a:spcAft>
                <a:spcPts val="400"/>
              </a:spcAft>
            </a:pPr>
            <a:r>
              <a:rPr sz="1700">
                <a:solidFill>
                  <a:srgbClr val="123B63"/>
                </a:solidFill>
                <a:latin typeface="Consolas"/>
              </a:rPr>
              <a:t>Z = b * d^2 / 6    # mm**3</a:t>
            </a:r>
          </a:p>
          <a:p>
            <a:pPr>
              <a:spcAft>
                <a:spcPts val="1000"/>
              </a:spcAft>
            </a:pPr>
            <a:r>
              <a:rPr sz="2000">
                <a:solidFill>
                  <a:srgbClr val="1C2431"/>
                </a:solidFill>
                <a:latin typeface="Segoe UI"/>
              </a:rPr>
              <a:t>•  The # unit at the end converts the answer.</a:t>
            </a:r>
          </a:p>
          <a:p>
            <a:pPr>
              <a:spcAft>
                <a:spcPts val="1000"/>
              </a:spcAft>
            </a:pPr>
            <a:r>
              <a:rPr sz="2000">
                <a:solidFill>
                  <a:srgbClr val="1C2431"/>
                </a:solidFill>
                <a:latin typeface="Segoe UI"/>
              </a:rPr>
              <a:t>•  Add a force to a length and it goes red - that saves you from mistakes.</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2-units-and-utilisation.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Declared values - your inputs</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11</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A line that is just a number is an input: w = 5 kN/m</a:t>
            </a:r>
          </a:p>
          <a:p>
            <a:pPr>
              <a:spcAft>
                <a:spcPts val="1000"/>
              </a:spcAft>
            </a:pPr>
            <a:r>
              <a:rPr sz="2000">
                <a:solidFill>
                  <a:srgbClr val="1C2431"/>
                </a:solidFill>
                <a:latin typeface="Segoe UI"/>
              </a:rPr>
              <a:t>•  Inputs are listed in Declared variables in the middle panel.</a:t>
            </a:r>
          </a:p>
          <a:p>
            <a:pPr>
              <a:spcAft>
                <a:spcPts val="1000"/>
              </a:spcAft>
            </a:pPr>
            <a:r>
              <a:rPr sz="2000">
                <a:solidFill>
                  <a:srgbClr val="1C2431"/>
                </a:solidFill>
                <a:latin typeface="Segoe UI"/>
              </a:rPr>
              <a:t>•  Change one there and every sum below updates.</a:t>
            </a:r>
          </a:p>
          <a:p>
            <a:pPr>
              <a:spcAft>
                <a:spcPts val="1000"/>
              </a:spcAft>
            </a:pPr>
            <a:r>
              <a:rPr sz="2000">
                <a:solidFill>
                  <a:srgbClr val="1C2431"/>
                </a:solidFill>
                <a:latin typeface="Segoe UI"/>
              </a:rPr>
              <a:t>•  Nothing else moves on the sheet.</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3-add-cells.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Tell InnoCalc how hard it is working</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12</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Name a line utilisation (or util):</a:t>
            </a:r>
          </a:p>
          <a:p>
            <a:pPr lvl="1">
              <a:spcAft>
                <a:spcPts val="400"/>
              </a:spcAft>
            </a:pPr>
            <a:r>
              <a:rPr sz="1700">
                <a:solidFill>
                  <a:srgbClr val="123B63"/>
                </a:solidFill>
                <a:latin typeface="Consolas"/>
              </a:rPr>
              <a:t>M_Rd = 30 kNm</a:t>
            </a:r>
          </a:p>
          <a:p>
            <a:pPr lvl="1">
              <a:spcAft>
                <a:spcPts val="400"/>
              </a:spcAft>
            </a:pPr>
            <a:r>
              <a:rPr sz="1700">
                <a:solidFill>
                  <a:srgbClr val="123B63"/>
                </a:solidFill>
                <a:latin typeface="Consolas"/>
              </a:rPr>
              <a:t>utilisation = M_max / M_Rd</a:t>
            </a:r>
          </a:p>
          <a:p>
            <a:pPr>
              <a:spcAft>
                <a:spcPts val="1000"/>
              </a:spcAft>
            </a:pPr>
            <a:r>
              <a:rPr sz="2000">
                <a:solidFill>
                  <a:srgbClr val="1C2431"/>
                </a:solidFill>
                <a:latin typeface="Segoe UI"/>
              </a:rPr>
              <a:t>•  InnoCalc shows it in the Calculation Index and the package contents.</a:t>
            </a:r>
          </a:p>
          <a:p>
            <a:pPr>
              <a:spcAft>
                <a:spcPts val="1000"/>
              </a:spcAft>
            </a:pPr>
            <a:r>
              <a:rPr sz="2000">
                <a:solidFill>
                  <a:srgbClr val="1C2431"/>
                </a:solidFill>
                <a:latin typeface="Segoe UI"/>
              </a:rPr>
              <a:t>•  Over 1.0 is shown in red.</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2-units-and-utilisation.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Algebra when you need it</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13</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Make a symbol, then let SymPy do the algebra:</a:t>
            </a:r>
          </a:p>
          <a:p>
            <a:pPr lvl="1">
              <a:spcAft>
                <a:spcPts val="400"/>
              </a:spcAft>
            </a:pPr>
            <a:r>
              <a:rPr sz="1700">
                <a:solidFill>
                  <a:srgbClr val="123B63"/>
                </a:solidFill>
                <a:latin typeface="Consolas"/>
              </a:rPr>
              <a:t>x = sym("x")</a:t>
            </a:r>
          </a:p>
          <a:p>
            <a:pPr lvl="1">
              <a:spcAft>
                <a:spcPts val="400"/>
              </a:spcAft>
            </a:pPr>
            <a:r>
              <a:rPr sz="1700">
                <a:solidFill>
                  <a:srgbClr val="123B63"/>
                </a:solidFill>
                <a:latin typeface="Consolas"/>
              </a:rPr>
              <a:t>roots = solve(x^2 - 3*x - 10, x)</a:t>
            </a:r>
          </a:p>
          <a:p>
            <a:pPr>
              <a:spcAft>
                <a:spcPts val="1000"/>
              </a:spcAft>
            </a:pPr>
            <a:r>
              <a:rPr sz="2000">
                <a:solidFill>
                  <a:srgbClr val="1C2431"/>
                </a:solidFill>
                <a:latin typeface="Segoe UI"/>
              </a:rPr>
              <a:t>•  Also: simplify, expand, factor, diff, integrate, limit</a:t>
            </a:r>
          </a:p>
          <a:p>
            <a:pPr>
              <a:spcAft>
                <a:spcPts val="1000"/>
              </a:spcAft>
            </a:pPr>
            <a:r>
              <a:rPr sz="2000">
                <a:solidFill>
                  <a:srgbClr val="1C2431"/>
                </a:solidFill>
                <a:latin typeface="Segoe UI"/>
              </a:rPr>
              <a:t>•  Tick Typeset equations for real fractions and roots on the sheet.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Drawings and markups</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14</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Add a PDF drawing or Bluebeam markup cell.</a:t>
            </a:r>
          </a:p>
          <a:p>
            <a:pPr>
              <a:spcAft>
                <a:spcPts val="1000"/>
              </a:spcAft>
            </a:pPr>
            <a:r>
              <a:rPr sz="2000">
                <a:solidFill>
                  <a:srgbClr val="1C2431"/>
                </a:solidFill>
                <a:latin typeface="Segoe UI"/>
              </a:rPr>
              <a:t>•  Give the file and the pages (1, 1,3-5, or blank for all).</a:t>
            </a:r>
          </a:p>
          <a:p>
            <a:pPr>
              <a:spcAft>
                <a:spcPts val="1000"/>
              </a:spcAft>
            </a:pPr>
            <a:r>
              <a:rPr sz="2000">
                <a:solidFill>
                  <a:srgbClr val="1C2431"/>
                </a:solidFill>
                <a:latin typeface="Segoe UI"/>
              </a:rPr>
              <a:t>•  On screen it is a placeholder.</a:t>
            </a:r>
          </a:p>
          <a:p>
            <a:pPr>
              <a:spcAft>
                <a:spcPts val="1000"/>
              </a:spcAft>
            </a:pPr>
            <a:r>
              <a:rPr sz="2000">
                <a:solidFill>
                  <a:srgbClr val="1C2431"/>
                </a:solidFill>
                <a:latin typeface="Segoe UI"/>
              </a:rPr>
              <a:t>•  In a package the real pages are put in at that spot.</a:t>
            </a:r>
          </a:p>
          <a:p>
            <a:pPr>
              <a:spcAft>
                <a:spcPts val="1000"/>
              </a:spcAft>
            </a:pPr>
            <a:r>
              <a:rPr sz="2000">
                <a:solidFill>
                  <a:srgbClr val="1C2431"/>
                </a:solidFill>
                <a:latin typeface="Segoe UI"/>
              </a:rPr>
              <a:t>•  Insert blank A4 / A3 sheets for hand sketches.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Save</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15</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Press SAVE (or Ctrl + S).</a:t>
            </a:r>
          </a:p>
          <a:p>
            <a:pPr>
              <a:spcAft>
                <a:spcPts val="1000"/>
              </a:spcAft>
            </a:pPr>
            <a:r>
              <a:rPr sz="2000">
                <a:solidFill>
                  <a:srgbClr val="1C2431"/>
                </a:solidFill>
                <a:latin typeface="Segoe UI"/>
              </a:rPr>
              <a:t>•  Yellow dot = changes not saved yet.</a:t>
            </a:r>
          </a:p>
          <a:p>
            <a:pPr>
              <a:spcAft>
                <a:spcPts val="1000"/>
              </a:spcAft>
            </a:pPr>
            <a:r>
              <a:rPr sz="2000">
                <a:solidFill>
                  <a:srgbClr val="1C2431"/>
                </a:solidFill>
                <a:latin typeface="Segoe UI"/>
              </a:rPr>
              <a:t>•  Each save is a new revision; the old one is kept as superseded.</a:t>
            </a:r>
          </a:p>
          <a:p>
            <a:pPr>
              <a:spcAft>
                <a:spcPts val="1000"/>
              </a:spcAft>
            </a:pPr>
            <a:r>
              <a:rPr sz="2000">
                <a:solidFill>
                  <a:srgbClr val="1C2431"/>
                </a:solidFill>
                <a:latin typeface="Segoe UI"/>
              </a:rPr>
              <a:t>•  The PDF is printed for you.</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8-saved.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Find it again</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16</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Calculation Index lists everything in the project.</a:t>
            </a:r>
          </a:p>
          <a:p>
            <a:pPr>
              <a:spcAft>
                <a:spcPts val="1000"/>
              </a:spcAft>
            </a:pPr>
            <a:r>
              <a:rPr sz="2000">
                <a:solidFill>
                  <a:srgbClr val="1C2431"/>
                </a:solidFill>
                <a:latin typeface="Segoe UI"/>
              </a:rPr>
              <a:t>•  Search, or filter by package, level, module and type.</a:t>
            </a:r>
          </a:p>
          <a:p>
            <a:pPr>
              <a:spcAft>
                <a:spcPts val="1000"/>
              </a:spcAft>
            </a:pPr>
            <a:r>
              <a:rPr sz="2000">
                <a:solidFill>
                  <a:srgbClr val="1C2431"/>
                </a:solidFill>
                <a:latin typeface="Segoe UI"/>
              </a:rPr>
              <a:t>•  Tick Show superseded to see older revisions in grey.</a:t>
            </a:r>
          </a:p>
          <a:p>
            <a:pPr>
              <a:spcAft>
                <a:spcPts val="1000"/>
              </a:spcAft>
            </a:pPr>
            <a:r>
              <a:rPr sz="2000">
                <a:solidFill>
                  <a:srgbClr val="1C2431"/>
                </a:solidFill>
                <a:latin typeface="Segoe UI"/>
              </a:rPr>
              <a:t>•  Open brings it back to the pad.</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calculation-index.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Too big for the pad?</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17</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Export as Jupyter notebook - every sum becomes a handcalcs cell.</a:t>
            </a:r>
          </a:p>
          <a:p>
            <a:pPr>
              <a:spcAft>
                <a:spcPts val="1000"/>
              </a:spcAft>
            </a:pPr>
            <a:r>
              <a:rPr sz="2000">
                <a:solidFill>
                  <a:srgbClr val="1C2431"/>
                </a:solidFill>
                <a:latin typeface="Segoe UI"/>
              </a:rPr>
              <a:t>•  Check Pint and SymPy - see which libraries are installed.</a:t>
            </a:r>
          </a:p>
          <a:p>
            <a:pPr>
              <a:spcAft>
                <a:spcPts val="1000"/>
              </a:spcAft>
            </a:pPr>
            <a:r>
              <a:rPr sz="2000">
                <a:solidFill>
                  <a:srgbClr val="1C2431"/>
                </a:solidFill>
                <a:latin typeface="Segoe UI"/>
              </a:rPr>
              <a:t>•  Jupyter &amp; handcalcs guide - links to training.</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4-handcalcs-guide.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Why it will not run 'real' code</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18</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Pads live on the shared drive and other people open them.</a:t>
            </a:r>
          </a:p>
          <a:p>
            <a:pPr>
              <a:spcAft>
                <a:spcPts val="1000"/>
              </a:spcAft>
            </a:pPr>
            <a:r>
              <a:rPr sz="2000">
                <a:solidFill>
                  <a:srgbClr val="1C2431"/>
                </a:solidFill>
                <a:latin typeface="Segoe UI"/>
              </a:rPr>
              <a:t>•  So a pad can only do arithmetic and the listed functions.</a:t>
            </a:r>
          </a:p>
          <a:p>
            <a:pPr>
              <a:spcAft>
                <a:spcPts val="1000"/>
              </a:spcAft>
            </a:pPr>
            <a:r>
              <a:rPr sz="2000">
                <a:solidFill>
                  <a:srgbClr val="1C2431"/>
                </a:solidFill>
                <a:latin typeface="Segoe UI"/>
              </a:rPr>
              <a:t>•  No imports, no files, no internet.</a:t>
            </a:r>
          </a:p>
          <a:p>
            <a:pPr>
              <a:spcAft>
                <a:spcPts val="1000"/>
              </a:spcAft>
            </a:pPr>
            <a:r>
              <a:rPr sz="2000">
                <a:solidFill>
                  <a:srgbClr val="1C2431"/>
                </a:solidFill>
                <a:latin typeface="Segoe UI"/>
              </a:rPr>
              <a:t>•  A pad can never harm someone else's computer.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Golden rules</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19</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One sum per line, clear names.</a:t>
            </a:r>
          </a:p>
          <a:p>
            <a:pPr>
              <a:spcAft>
                <a:spcPts val="1000"/>
              </a:spcAft>
            </a:pPr>
            <a:r>
              <a:rPr sz="2000">
                <a:solidFill>
                  <a:srgbClr val="1C2431"/>
                </a:solidFill>
                <a:latin typeface="Segoe UI"/>
              </a:rPr>
              <a:t>•  Always write the units.</a:t>
            </a:r>
          </a:p>
          <a:p>
            <a:pPr>
              <a:spcAft>
                <a:spcPts val="1000"/>
              </a:spcAft>
            </a:pPr>
            <a:r>
              <a:rPr sz="2000">
                <a:solidFill>
                  <a:srgbClr val="1C2431"/>
                </a:solidFill>
                <a:latin typeface="Segoe UI"/>
              </a:rPr>
              <a:t>•  Add a utilisation line for design checks.</a:t>
            </a:r>
          </a:p>
          <a:p>
            <a:pPr>
              <a:spcAft>
                <a:spcPts val="1000"/>
              </a:spcAft>
            </a:pPr>
            <a:r>
              <a:rPr sz="2000">
                <a:solidFill>
                  <a:srgbClr val="1C2431"/>
                </a:solidFill>
                <a:latin typeface="Segoe UI"/>
              </a:rPr>
              <a:t>•  Write the assumptions in a narrative cell.</a:t>
            </a:r>
          </a:p>
          <a:p>
            <a:pPr>
              <a:spcAft>
                <a:spcPts val="1000"/>
              </a:spcAft>
            </a:pPr>
            <a:r>
              <a:rPr sz="2000">
                <a:solidFill>
                  <a:srgbClr val="1C2431"/>
                </a:solidFill>
                <a:latin typeface="Segoe UI"/>
              </a:rPr>
              <a:t>•  Save often - watch the yellow dot.</a:t>
            </a:r>
          </a:p>
          <a:p>
            <a:pPr>
              <a:spcAft>
                <a:spcPts val="1000"/>
              </a:spcAft>
            </a:pPr>
            <a:r>
              <a:rPr sz="2000">
                <a:solidFill>
                  <a:srgbClr val="1C2431"/>
                </a:solidFill>
                <a:latin typeface="Segoe UI"/>
              </a:rPr>
              <a:t>•  A pad is still checked like any hand calculation.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Try it: a simple beam</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20</a:t>
            </a:r>
          </a:p>
        </p:txBody>
      </p:sp>
      <p:sp>
        <p:nvSpPr>
          <p:cNvPr id="6" name="TextBox 5"/>
          <p:cNvSpPr txBox="1"/>
          <p:nvPr/>
        </p:nvSpPr>
        <p:spPr>
          <a:xfrm>
            <a:off x="731520" y="1280160"/>
            <a:ext cx="10698480" cy="4937760"/>
          </a:xfrm>
          <a:prstGeom prst="rect">
            <a:avLst/>
          </a:prstGeom>
          <a:noFill/>
        </p:spPr>
        <p:txBody>
          <a:bodyPr wrap="square">
            <a:spAutoFit/>
          </a:bodyPr>
          <a:lstStyle/>
          <a:p>
            <a:pPr>
              <a:spcAft>
                <a:spcPts val="1000"/>
              </a:spcAft>
            </a:pPr>
            <a:r>
              <a:rPr sz="2000">
                <a:solidFill>
                  <a:srgbClr val="1C2431"/>
                </a:solidFill>
                <a:latin typeface="Segoe UI"/>
              </a:rPr>
              <a:t>•  New Calculation Pad, type Beam 0001.</a:t>
            </a:r>
          </a:p>
          <a:p>
            <a:pPr>
              <a:spcAft>
                <a:spcPts val="1000"/>
              </a:spcAft>
            </a:pPr>
            <a:r>
              <a:rPr sz="2000">
                <a:solidFill>
                  <a:srgbClr val="1C2431"/>
                </a:solidFill>
                <a:latin typeface="Segoe UI"/>
              </a:rPr>
              <a:t>•  Write:</a:t>
            </a:r>
          </a:p>
          <a:p>
            <a:pPr lvl="1">
              <a:spcAft>
                <a:spcPts val="400"/>
              </a:spcAft>
            </a:pPr>
            <a:r>
              <a:rPr sz="1700">
                <a:solidFill>
                  <a:srgbClr val="123B63"/>
                </a:solidFill>
                <a:latin typeface="Consolas"/>
              </a:rPr>
              <a:t>w = 5.0 kN/m</a:t>
            </a:r>
          </a:p>
          <a:p>
            <a:pPr lvl="1">
              <a:spcAft>
                <a:spcPts val="400"/>
              </a:spcAft>
            </a:pPr>
            <a:r>
              <a:rPr sz="1700">
                <a:solidFill>
                  <a:srgbClr val="123B63"/>
                </a:solidFill>
                <a:latin typeface="Consolas"/>
              </a:rPr>
              <a:t>L = 6.0 m</a:t>
            </a:r>
          </a:p>
          <a:p>
            <a:pPr lvl="1">
              <a:spcAft>
                <a:spcPts val="400"/>
              </a:spcAft>
            </a:pPr>
            <a:r>
              <a:rPr sz="1700">
                <a:solidFill>
                  <a:srgbClr val="123B63"/>
                </a:solidFill>
                <a:latin typeface="Consolas"/>
              </a:rPr>
              <a:t>M_max = w * L^2 / 8   # kNm</a:t>
            </a:r>
          </a:p>
          <a:p>
            <a:pPr lvl="1">
              <a:spcAft>
                <a:spcPts val="400"/>
              </a:spcAft>
            </a:pPr>
            <a:r>
              <a:rPr sz="1700">
                <a:solidFill>
                  <a:srgbClr val="123B63"/>
                </a:solidFill>
                <a:latin typeface="Consolas"/>
              </a:rPr>
              <a:t>M_Rd = 30 kNm</a:t>
            </a:r>
          </a:p>
          <a:p>
            <a:pPr lvl="1">
              <a:spcAft>
                <a:spcPts val="400"/>
              </a:spcAft>
            </a:pPr>
            <a:r>
              <a:rPr sz="1700">
                <a:solidFill>
                  <a:srgbClr val="123B63"/>
                </a:solidFill>
                <a:latin typeface="Consolas"/>
              </a:rPr>
              <a:t>utilisation = M_max / M_Rd</a:t>
            </a:r>
          </a:p>
          <a:p>
            <a:pPr>
              <a:spcAft>
                <a:spcPts val="1000"/>
              </a:spcAft>
            </a:pPr>
            <a:r>
              <a:rPr sz="2000">
                <a:solidFill>
                  <a:srgbClr val="1C2431"/>
                </a:solidFill>
                <a:latin typeface="Segoe UI"/>
              </a:rPr>
              <a:t>•  Change L to 8 m in Declared variables. What happens? Save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2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19456"/>
            <a:ext cx="438912" cy="4389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3B63"/>
                </a:solidFill>
                <a:latin typeface="Segoe UI"/>
              </a:rPr>
              <a:t>IC</a:t>
            </a:r>
          </a:p>
        </p:txBody>
      </p:sp>
      <p:sp>
        <p:nvSpPr>
          <p:cNvPr id="4" name="TextBox 3"/>
          <p:cNvSpPr txBox="1"/>
          <p:nvPr/>
        </p:nvSpPr>
        <p:spPr>
          <a:xfrm>
            <a:off x="914400" y="109728"/>
            <a:ext cx="10424160" cy="658368"/>
          </a:xfrm>
          <a:prstGeom prst="rect">
            <a:avLst/>
          </a:prstGeom>
          <a:noFill/>
        </p:spPr>
        <p:txBody>
          <a:bodyPr wrap="none" anchor="ctr">
            <a:spAutoFit/>
          </a:bodyPr>
          <a:lstStyle/>
          <a:p>
            <a:pPr algn="l"/>
            <a:r>
              <a:rPr sz="2800" b="1">
                <a:solidFill>
                  <a:srgbClr val="FFFFFF"/>
                </a:solidFill>
                <a:latin typeface="Segoe UI"/>
              </a:rPr>
              <a:t>Help and feedback</a:t>
            </a:r>
          </a:p>
        </p:txBody>
      </p:sp>
      <p:sp>
        <p:nvSpPr>
          <p:cNvPr id="5" name="TextBox 4"/>
          <p:cNvSpPr txBox="1"/>
          <p:nvPr/>
        </p:nvSpPr>
        <p:spPr>
          <a:xfrm>
            <a:off x="320040" y="6446520"/>
            <a:ext cx="11521440" cy="320040"/>
          </a:xfrm>
          <a:prstGeom prst="rect">
            <a:avLst/>
          </a:prstGeom>
          <a:noFill/>
        </p:spPr>
        <p:txBody>
          <a:bodyPr wrap="none">
            <a:spAutoFit/>
          </a:bodyPr>
          <a:lstStyle/>
          <a:p>
            <a:pPr algn="r"/>
            <a:r>
              <a:rPr sz="1000" b="0">
                <a:solidFill>
                  <a:srgbClr val="5B6675"/>
                </a:solidFill>
                <a:latin typeface="Segoe UI"/>
              </a:rPr>
              <a:t>InnoCalc v0.0.1  |  Calculation Pad training  |  21</a:t>
            </a:r>
          </a:p>
        </p:txBody>
      </p:sp>
      <p:sp>
        <p:nvSpPr>
          <p:cNvPr id="6" name="TextBox 5"/>
          <p:cNvSpPr txBox="1"/>
          <p:nvPr/>
        </p:nvSpPr>
        <p:spPr>
          <a:xfrm>
            <a:off x="457200" y="1188720"/>
            <a:ext cx="4480560" cy="5120640"/>
          </a:xfrm>
          <a:prstGeom prst="rect">
            <a:avLst/>
          </a:prstGeom>
          <a:noFill/>
        </p:spPr>
        <p:txBody>
          <a:bodyPr wrap="square">
            <a:spAutoFit/>
          </a:bodyPr>
          <a:lstStyle/>
          <a:p>
            <a:pPr>
              <a:spcAft>
                <a:spcPts val="1000"/>
              </a:spcAft>
            </a:pPr>
            <a:r>
              <a:rPr sz="2000">
                <a:solidFill>
                  <a:srgbClr val="1C2431"/>
                </a:solidFill>
                <a:latin typeface="Segoe UI"/>
              </a:rPr>
              <a:t>•  Press Feedback in the top bar.</a:t>
            </a:r>
          </a:p>
          <a:p>
            <a:pPr>
              <a:spcAft>
                <a:spcPts val="1000"/>
              </a:spcAft>
            </a:pPr>
            <a:r>
              <a:rPr sz="2000">
                <a:solidFill>
                  <a:srgbClr val="1C2431"/>
                </a:solidFill>
                <a:latin typeface="Segoe UI"/>
              </a:rPr>
              <a:t>•  Report a bug - say what you pressed and what went wrong.</a:t>
            </a:r>
          </a:p>
          <a:p>
            <a:pPr>
              <a:spcAft>
                <a:spcPts val="1000"/>
              </a:spcAft>
            </a:pPr>
            <a:r>
              <a:rPr sz="2000">
                <a:solidFill>
                  <a:srgbClr val="1C2431"/>
                </a:solidFill>
                <a:latin typeface="Segoe UI"/>
              </a:rPr>
              <a:t>•  Suggest an improvement - tell us what would help.</a:t>
            </a:r>
          </a:p>
          <a:p>
            <a:pPr>
              <a:spcAft>
                <a:spcPts val="1000"/>
              </a:spcAft>
            </a:pPr>
            <a:r>
              <a:rPr sz="2000">
                <a:solidFill>
                  <a:srgbClr val="1C2431"/>
                </a:solidFill>
                <a:latin typeface="Segoe UI"/>
              </a:rPr>
              <a:t>•  See something already listed? Press Me too.</a:t>
            </a:r>
          </a:p>
          <a:p>
            <a:pPr>
              <a:spcAft>
                <a:spcPts val="1000"/>
              </a:spcAft>
            </a:pPr>
            <a:r>
              <a:rPr sz="2000">
                <a:solidFill>
                  <a:srgbClr val="1C2431"/>
                </a:solidFill>
                <a:latin typeface="Segoe UI"/>
              </a:rPr>
              <a:t>•  User guide: README-ENDUSER.md</a:t>
            </a:r>
          </a:p>
        </p:txBody>
      </p:sp>
      <p:sp>
        <p:nvSpPr>
          <p:cNvPr id="7" name="Rectangle 6"/>
          <p:cNvSpPr/>
          <p:nvPr/>
        </p:nvSpPr>
        <p:spPr>
          <a:xfrm>
            <a:off x="5111115" y="1836420"/>
            <a:ext cx="6785610" cy="3825240"/>
          </a:xfrm>
          <a:prstGeom prst="rect">
            <a:avLst/>
          </a:prstGeom>
          <a:solidFill>
            <a:srgbClr val="FFFFFF"/>
          </a:solidFill>
          <a:ln>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9-feedback-page.png"/>
          <p:cNvPicPr>
            <a:picLocks noChangeAspect="1"/>
          </p:cNvPicPr>
          <p:nvPr/>
        </p:nvPicPr>
        <p:blipFill>
          <a:blip r:embed="rId2"/>
          <a:stretch>
            <a:fillRect/>
          </a:stretch>
        </p:blipFill>
        <p:spPr>
          <a:xfrm>
            <a:off x="5120640" y="1845945"/>
            <a:ext cx="6766560" cy="38061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InnoCalc - Calculation Pad training</dc:title>
  <dc:subject/>
  <dc:creator>Innovis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